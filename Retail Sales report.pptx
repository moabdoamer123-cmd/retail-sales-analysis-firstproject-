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89" r:id="rId5"/>
    <p:sldId id="296" r:id="rId6"/>
    <p:sldId id="297" r:id="rId7"/>
    <p:sldId id="299" r:id="rId8"/>
    <p:sldId id="300" r:id="rId9"/>
    <p:sldId id="301" r:id="rId10"/>
    <p:sldId id="302" r:id="rId11"/>
    <p:sldId id="303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292E"/>
    <a:srgbClr val="404040"/>
    <a:srgbClr val="0090A2"/>
    <a:srgbClr val="05485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75" autoAdjust="0"/>
    <p:restoredTop sz="94670"/>
  </p:normalViewPr>
  <p:slideViewPr>
    <p:cSldViewPr snapToGrid="0">
      <p:cViewPr varScale="1">
        <p:scale>
          <a:sx n="78" d="100"/>
          <a:sy n="78" d="100"/>
        </p:scale>
        <p:origin x="979" y="5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D6640C-F6A0-4351-856B-14836F234E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0B7B-2795-4857-B84E-9C600536AE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20AE1-5DBC-4417-A73B-5F29B67C532C}" type="datetimeFigureOut">
              <a:rPr lang="en-US" smtClean="0"/>
              <a:t>9/18/2025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3ACD6-6E00-4BE1-A684-34A6BD202E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F20A5-CEF2-4B11-A0A4-0F4BC0BD64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22411-A9A9-4A09-A341-69C657AB42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88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t>9/18/2025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17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112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502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t>9/18/2025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excelligent.fi/2020/09/28/power-bi-kaikki-mita-sinun-tulee-tietaa-aloittaessasi-3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nc-sa/3.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nl/bedankt-pen-potlood-oude-papier-1606941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 descr="Blue rectangle">
            <a:extLst>
              <a:ext uri="{FF2B5EF4-FFF2-40B4-BE49-F238E27FC236}">
                <a16:creationId xmlns:a16="http://schemas.microsoft.com/office/drawing/2014/main" id="{482BBC39-5D4C-4E24-ADB1-5FFFBA7198D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3"/>
            <a:srcRect/>
            <a:stretch>
              <a:fillRect l="-12" r="-12"/>
            </a:stretch>
          </a:blip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>
          <a:xfrm>
            <a:off x="2540" y="0"/>
            <a:ext cx="12189460" cy="6928055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8518"/>
            <a:ext cx="9144000" cy="2128049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5000" dirty="0">
                <a:latin typeface="Gill Sans MT" panose="020B0502020104020203" pitchFamily="34" charset="0"/>
              </a:rPr>
              <a:t>Retail Sales</a:t>
            </a:r>
            <a:br>
              <a:rPr lang="en-US" sz="5000" dirty="0">
                <a:latin typeface="Gill Sans MT" panose="020B0502020104020203" pitchFamily="34" charset="0"/>
              </a:rPr>
            </a:br>
            <a:r>
              <a:rPr lang="en-US" sz="5000" dirty="0">
                <a:latin typeface="Gill Sans MT" panose="020B0502020104020203" pitchFamily="34" charset="0"/>
              </a:rPr>
              <a:t>Analysis</a:t>
            </a:r>
            <a:endParaRPr lang="en-US" sz="50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2000" y="4221162"/>
            <a:ext cx="3888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/>
          <a:p>
            <a:r>
              <a:rPr lang="en-US" dirty="0"/>
              <a:t>By : Mo Amer.</a:t>
            </a:r>
            <a:endParaRPr lang="en-US" sz="2500" b="1" i="1" spc="65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>
          <a:xfrm>
            <a:off x="3108000" y="3229869"/>
            <a:ext cx="5976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70B29D4-8B41-5EF7-58C1-FC458D4980FE}"/>
              </a:ext>
            </a:extLst>
          </p:cNvPr>
          <p:cNvSpPr/>
          <p:nvPr/>
        </p:nvSpPr>
        <p:spPr>
          <a:xfrm>
            <a:off x="0" y="1690688"/>
            <a:ext cx="12192000" cy="5167312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C0BB29-2804-1CC4-E071-54EBB3F65D28}"/>
              </a:ext>
            </a:extLst>
          </p:cNvPr>
          <p:cNvSpPr txBox="1"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054854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2DD94-28A4-6CF0-837C-CDA70CDA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step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1:</a:t>
            </a:r>
            <a:r>
              <a:rPr lang="en-US" dirty="0">
                <a:solidFill>
                  <a:schemeClr val="bg1"/>
                </a:solidFill>
              </a:rPr>
              <a:t> creating the data 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(Products &amp;  Actual Sales) by </a:t>
            </a:r>
            <a:r>
              <a:rPr lang="en-US" dirty="0" err="1">
                <a:solidFill>
                  <a:schemeClr val="bg2"/>
                </a:solidFill>
              </a:rPr>
              <a:t>postgreSQL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3CC4B-2D41-BBA6-7571-E201E7FE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844" y="6174902"/>
            <a:ext cx="3571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17" name="Content Placeholder 1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394E15E-D5A4-8401-3FB8-95DE6C96D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857" y="1934496"/>
            <a:ext cx="6564213" cy="4901381"/>
          </a:xfrm>
        </p:spPr>
      </p:pic>
    </p:spTree>
    <p:extLst>
      <p:ext uri="{BB962C8B-B14F-4D97-AF65-F5344CB8AC3E}">
        <p14:creationId xmlns:p14="http://schemas.microsoft.com/office/powerpoint/2010/main" val="9075228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42ECB-9DF4-9082-0A24-9E09C2AF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C5A47FB-324B-DF8C-5665-67834D931822}"/>
              </a:ext>
            </a:extLst>
          </p:cNvPr>
          <p:cNvSpPr txBox="1"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054854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DEA99-8666-D119-F9F5-38914390B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-The second step on creating data 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2.(Target Sales) by </a:t>
            </a:r>
            <a:r>
              <a:rPr lang="en-US" dirty="0">
                <a:solidFill>
                  <a:srgbClr val="0090A2"/>
                </a:solidFill>
              </a:rPr>
              <a:t>Excel</a:t>
            </a:r>
          </a:p>
        </p:txBody>
      </p:sp>
      <p:pic>
        <p:nvPicPr>
          <p:cNvPr id="12" name="Content Placeholder 11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8D027D0B-18B0-A26F-AA99-6F396BB794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445" y="2141537"/>
            <a:ext cx="5847110" cy="4351338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4F59E-A7AB-1015-010C-8034AE0C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844" y="6174902"/>
            <a:ext cx="3571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336610-8A8F-6DD1-C2AD-6EB6F5D2BC06}"/>
              </a:ext>
            </a:extLst>
          </p:cNvPr>
          <p:cNvSpPr/>
          <p:nvPr/>
        </p:nvSpPr>
        <p:spPr>
          <a:xfrm>
            <a:off x="0" y="1690688"/>
            <a:ext cx="12192000" cy="5167312"/>
          </a:xfrm>
          <a:prstGeom prst="rect">
            <a:avLst/>
          </a:prstGeom>
          <a:solidFill>
            <a:srgbClr val="BFBFB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706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67C65-3657-CE60-6AB6-779FB686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59307B-0687-E54E-D055-45F8A26CF4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D4318-3F8B-1E60-AF7D-47FC87F682D2}"/>
              </a:ext>
            </a:extLst>
          </p:cNvPr>
          <p:cNvSpPr txBox="1"/>
          <p:nvPr/>
        </p:nvSpPr>
        <p:spPr>
          <a:xfrm>
            <a:off x="838200" y="332105"/>
            <a:ext cx="10276840" cy="1493520"/>
          </a:xfrm>
          <a:prstGeom prst="rect">
            <a:avLst/>
          </a:prstGeom>
          <a:solidFill>
            <a:srgbClr val="054854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88B72-5B64-5A34-29E3-685F4ECBF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844" y="6174902"/>
            <a:ext cx="3571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B8F8E7-2BC6-3B45-A224-09A6494E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Step 2: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importing data and relationships on power bi</a:t>
            </a:r>
          </a:p>
        </p:txBody>
      </p:sp>
      <p:pic>
        <p:nvPicPr>
          <p:cNvPr id="9" name="Content Placeholder 8" descr="A diagram of a data flow&#10;&#10;AI-generated content may be incorrect.">
            <a:extLst>
              <a:ext uri="{FF2B5EF4-FFF2-40B4-BE49-F238E27FC236}">
                <a16:creationId xmlns:a16="http://schemas.microsoft.com/office/drawing/2014/main" id="{834CDDEB-78D9-E2CF-EA9D-9956C76419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/>
        </p:blipFill>
        <p:spPr>
          <a:xfrm>
            <a:off x="838200" y="2537492"/>
            <a:ext cx="5181600" cy="2927603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D8F43B-1ECC-2BB8-3F25-67D917DA8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244" y="1973268"/>
            <a:ext cx="5181600" cy="435133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</a:rPr>
              <a:t>There is a problem here !</a:t>
            </a:r>
          </a:p>
          <a:p>
            <a:pPr>
              <a:lnSpc>
                <a:spcPct val="120000"/>
              </a:lnSpc>
            </a:pPr>
            <a:r>
              <a:rPr lang="en-US" dirty="0"/>
              <a:t>      After importing data, I faced a problem when I was </a:t>
            </a:r>
            <a:r>
              <a:rPr lang="en-US" dirty="0">
                <a:solidFill>
                  <a:srgbClr val="0070C0"/>
                </a:solidFill>
              </a:rPr>
              <a:t>building relationship </a:t>
            </a:r>
            <a:r>
              <a:rPr lang="en-US" dirty="0"/>
              <a:t>on Region and Category between (actual sales , target sales);</a:t>
            </a:r>
          </a:p>
          <a:p>
            <a:pPr>
              <a:lnSpc>
                <a:spcPct val="120000"/>
              </a:lnSpc>
            </a:pPr>
            <a:r>
              <a:rPr lang="en-US" dirty="0"/>
              <a:t>-there isn’t </a:t>
            </a:r>
            <a:r>
              <a:rPr lang="en-US" dirty="0">
                <a:solidFill>
                  <a:srgbClr val="0070C0"/>
                </a:solidFill>
              </a:rPr>
              <a:t>category</a:t>
            </a:r>
            <a:r>
              <a:rPr lang="en-US" dirty="0"/>
              <a:t> column in </a:t>
            </a:r>
            <a:r>
              <a:rPr lang="en-US" dirty="0">
                <a:solidFill>
                  <a:srgbClr val="0070C0"/>
                </a:solidFill>
              </a:rPr>
              <a:t>actual sales table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-Relationship was </a:t>
            </a:r>
            <a:r>
              <a:rPr lang="en-US" dirty="0">
                <a:solidFill>
                  <a:srgbClr val="0070C0"/>
                </a:solidFill>
              </a:rPr>
              <a:t>many to many</a:t>
            </a:r>
            <a:r>
              <a:rPr lang="en-US" dirty="0"/>
              <a:t> between these columns. </a:t>
            </a:r>
          </a:p>
          <a:p>
            <a:pPr>
              <a:lnSpc>
                <a:spcPct val="120000"/>
              </a:lnSpc>
            </a:pPr>
            <a:r>
              <a:rPr lang="en-US" dirty="0"/>
              <a:t>Solutions:</a:t>
            </a:r>
          </a:p>
          <a:p>
            <a:pPr>
              <a:lnSpc>
                <a:spcPct val="120000"/>
              </a:lnSpc>
            </a:pPr>
            <a:r>
              <a:rPr lang="en-US" dirty="0"/>
              <a:t>   1.</a:t>
            </a:r>
            <a:r>
              <a:rPr lang="en-US" dirty="0">
                <a:solidFill>
                  <a:srgbClr val="0070C0"/>
                </a:solidFill>
              </a:rPr>
              <a:t>related category </a:t>
            </a:r>
            <a:r>
              <a:rPr lang="en-US" dirty="0"/>
              <a:t>column from public products table.</a:t>
            </a:r>
          </a:p>
          <a:p>
            <a:pPr>
              <a:lnSpc>
                <a:spcPct val="120000"/>
              </a:lnSpc>
            </a:pPr>
            <a:r>
              <a:rPr lang="en-US" dirty="0"/>
              <a:t>2. Build </a:t>
            </a:r>
            <a:r>
              <a:rPr lang="en-US" dirty="0">
                <a:solidFill>
                  <a:srgbClr val="0070C0"/>
                </a:solidFill>
              </a:rPr>
              <a:t>dimension tables </a:t>
            </a:r>
            <a:r>
              <a:rPr lang="en-US" dirty="0"/>
              <a:t>of category and region to make one to many relationship.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237594-EE26-B896-E633-2343C430A6B0}"/>
              </a:ext>
            </a:extLst>
          </p:cNvPr>
          <p:cNvSpPr txBox="1"/>
          <p:nvPr/>
        </p:nvSpPr>
        <p:spPr>
          <a:xfrm>
            <a:off x="3295977" y="5265040"/>
            <a:ext cx="2723823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hexcelligent.fi/2020/09/28/power-bi-kaikki-mita-sinun-tulee-tietaa-aloittaessasi-3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4801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E6DC6A-75DF-FB29-92E1-F9D2680C0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CFD212-72B7-1EAA-5E0C-1FA5E0EE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20389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7EFEF90-0C09-863D-39C6-99BD96703F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2DA9A-D0A2-6212-5653-A85642A8A890}"/>
              </a:ext>
            </a:extLst>
          </p:cNvPr>
          <p:cNvSpPr txBox="1"/>
          <p:nvPr/>
        </p:nvSpPr>
        <p:spPr>
          <a:xfrm>
            <a:off x="717756" y="2341004"/>
            <a:ext cx="10205883" cy="4516996"/>
          </a:xfrm>
          <a:prstGeom prst="rect">
            <a:avLst/>
          </a:prstGeom>
          <a:solidFill>
            <a:srgbClr val="BFBFB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3C5866-09B6-FFDF-9EA9-8CE2E749BB24}"/>
              </a:ext>
            </a:extLst>
          </p:cNvPr>
          <p:cNvSpPr txBox="1"/>
          <p:nvPr/>
        </p:nvSpPr>
        <p:spPr>
          <a:xfrm>
            <a:off x="838200" y="332105"/>
            <a:ext cx="9928123" cy="1493520"/>
          </a:xfrm>
          <a:prstGeom prst="rect">
            <a:avLst/>
          </a:prstGeom>
          <a:solidFill>
            <a:srgbClr val="054854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17017-FFB7-0F93-F34D-93D9A9698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04" y="332105"/>
            <a:ext cx="9875520" cy="1369060"/>
          </a:xfrm>
        </p:spPr>
        <p:txBody>
          <a:bodyPr anchor="ctr"/>
          <a:lstStyle/>
          <a:p>
            <a:r>
              <a:rPr lang="en-US" dirty="0">
                <a:solidFill>
                  <a:schemeClr val="bg1"/>
                </a:solidFill>
              </a:rPr>
              <a:t>Step 3: Creating measures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30ECC-F788-1965-0C81-86C638CB2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68736" y="2545876"/>
            <a:ext cx="5511936" cy="3811588"/>
          </a:xfrm>
        </p:spPr>
        <p:txBody>
          <a:bodyPr/>
          <a:lstStyle/>
          <a:p>
            <a:endParaRPr lang="en-US" dirty="0"/>
          </a:p>
          <a:p>
            <a:pPr marL="342900" indent="-342900">
              <a:buAutoNum type="arabicPeriod"/>
            </a:pPr>
            <a:r>
              <a:rPr lang="en-US" sz="3200" dirty="0"/>
              <a:t>Actual Sales measure.</a:t>
            </a:r>
          </a:p>
          <a:p>
            <a:pPr marL="342900" indent="-342900">
              <a:buAutoNum type="arabicPeriod"/>
            </a:pPr>
            <a:r>
              <a:rPr lang="en-US" sz="3200" dirty="0"/>
              <a:t>Target Sales measure.</a:t>
            </a:r>
          </a:p>
          <a:p>
            <a:pPr marL="342900" indent="-342900">
              <a:buAutoNum type="arabicPeriod"/>
            </a:pPr>
            <a:r>
              <a:rPr lang="en-US" sz="3200" dirty="0"/>
              <a:t>Sales vs Target .</a:t>
            </a:r>
          </a:p>
          <a:p>
            <a:pPr marL="342900" indent="-342900">
              <a:buAutoNum type="arabicPeriod"/>
            </a:pPr>
            <a:r>
              <a:rPr lang="en-US" sz="3200" dirty="0"/>
              <a:t>Sales vs Target %.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A5B65-E3F6-388B-3D58-1A98222E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2662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A579E-95ED-157C-34AD-4167A587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34DB42B-10F8-93C3-E34D-FE63E1AD07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947B1D-7EE2-37C2-1974-08FBCDC9392C}"/>
              </a:ext>
            </a:extLst>
          </p:cNvPr>
          <p:cNvSpPr txBox="1"/>
          <p:nvPr/>
        </p:nvSpPr>
        <p:spPr>
          <a:xfrm>
            <a:off x="717756" y="2341004"/>
            <a:ext cx="10205883" cy="4516996"/>
          </a:xfrm>
          <a:prstGeom prst="rect">
            <a:avLst/>
          </a:prstGeom>
          <a:solidFill>
            <a:srgbClr val="BFBFB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578D3-3822-F18E-01A4-9B9EEA05F6DC}"/>
              </a:ext>
            </a:extLst>
          </p:cNvPr>
          <p:cNvSpPr txBox="1"/>
          <p:nvPr/>
        </p:nvSpPr>
        <p:spPr>
          <a:xfrm>
            <a:off x="838200" y="332105"/>
            <a:ext cx="9928123" cy="1493520"/>
          </a:xfrm>
          <a:prstGeom prst="rect">
            <a:avLst/>
          </a:prstGeom>
          <a:solidFill>
            <a:srgbClr val="054854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19FB0-C3F4-B934-222A-E78ECD3F7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04" y="332105"/>
            <a:ext cx="9875520" cy="1369060"/>
          </a:xfrm>
        </p:spPr>
        <p:txBody>
          <a:bodyPr anchor="ctr"/>
          <a:lstStyle/>
          <a:p>
            <a:r>
              <a:rPr lang="en-US" dirty="0">
                <a:solidFill>
                  <a:schemeClr val="bg1"/>
                </a:solidFill>
              </a:rPr>
              <a:t>Step 4: visualizations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85A7B-5A80-969D-E95D-2ADAFE9DB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68736" y="2545876"/>
            <a:ext cx="5511936" cy="3811588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 marL="342900" indent="-342900">
              <a:buAutoNum type="arabicPeriod"/>
            </a:pPr>
            <a:r>
              <a:rPr lang="en-US" sz="2600" dirty="0"/>
              <a:t>I made a table u can see all of important numbers by it.</a:t>
            </a:r>
          </a:p>
          <a:p>
            <a:pPr marL="342900" indent="-342900">
              <a:buAutoNum type="arabicPeriod"/>
            </a:pPr>
            <a:r>
              <a:rPr lang="en-US" sz="2600" dirty="0"/>
              <a:t>Chart to see different between sales and targets of any product and category.</a:t>
            </a:r>
          </a:p>
          <a:p>
            <a:pPr marL="342900" indent="-342900">
              <a:buAutoNum type="arabicPeriod"/>
            </a:pPr>
            <a:r>
              <a:rPr lang="en-US" sz="2600" dirty="0"/>
              <a:t>KPI to know how much u needed to achieve the target.</a:t>
            </a:r>
          </a:p>
          <a:p>
            <a:pPr marL="342900" indent="-342900">
              <a:buAutoNum type="arabicPeriod"/>
            </a:pPr>
            <a:r>
              <a:rPr lang="en-US" sz="2600" dirty="0"/>
              <a:t>Slicers to see all of data that u need.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491F4-1D2B-11DD-065D-97742555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7850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8CFAF159-A806-F28A-EB11-C4FD8A480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4881E3E1-BDAD-B230-67C8-FB6E4C96D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3961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155C9-2BF3-775B-7315-94A4C638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Close-up of a pen writing on a brown board&#10;&#10;AI-generated content may be incorrect.">
            <a:extLst>
              <a:ext uri="{FF2B5EF4-FFF2-40B4-BE49-F238E27FC236}">
                <a16:creationId xmlns:a16="http://schemas.microsoft.com/office/drawing/2014/main" id="{82EF3F8F-2409-63CF-3C8A-AEC690873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95C3290C-E8DC-E9B8-283E-E0556CCA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2012FD-CE3C-76A9-4D9C-01E28E4A3A11}"/>
              </a:ext>
            </a:extLst>
          </p:cNvPr>
          <p:cNvSpPr txBox="1"/>
          <p:nvPr/>
        </p:nvSpPr>
        <p:spPr>
          <a:xfrm>
            <a:off x="1936956" y="1828800"/>
            <a:ext cx="297917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Thank u </a:t>
            </a:r>
            <a:r>
              <a:rPr lang="en-US" sz="4000" dirty="0" err="1"/>
              <a:t>eng.</a:t>
            </a:r>
            <a:r>
              <a:rPr lang="en-US" sz="4000" dirty="0"/>
              <a:t> Abdelhamid for </a:t>
            </a:r>
            <a:r>
              <a:rPr lang="en-US" sz="4000" dirty="0" err="1"/>
              <a:t>ur</a:t>
            </a:r>
            <a:r>
              <a:rPr lang="en-US" sz="4000" dirty="0"/>
              <a:t> effort with me </a:t>
            </a:r>
          </a:p>
        </p:txBody>
      </p:sp>
    </p:spTree>
    <p:extLst>
      <p:ext uri="{BB962C8B-B14F-4D97-AF65-F5344CB8AC3E}">
        <p14:creationId xmlns:p14="http://schemas.microsoft.com/office/powerpoint/2010/main" val="30563466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4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45022061_Professional services marketing plan_SL_V1" id="{B214D568-CC3C-4109-877A-D7A12976D35F}" vid="{D425069E-A49A-4A86-9A62-1864F0635A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2DDA16B-F3AC-4A5B-9F5F-6F5A8F47A9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26FE2C-7640-4BF0-9D68-FDFD4151F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118CE8-9293-4220-BA3B-5D353B13ABC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Professional services marketing plan</Template>
  <TotalTime>232</TotalTime>
  <Words>241</Words>
  <Application>Microsoft Office PowerPoint</Application>
  <PresentationFormat>Widescreen</PresentationFormat>
  <Paragraphs>37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</vt:lpstr>
      <vt:lpstr>Calibri</vt:lpstr>
      <vt:lpstr>Gill Sans MT</vt:lpstr>
      <vt:lpstr>Wingdings</vt:lpstr>
      <vt:lpstr>Office Theme</vt:lpstr>
      <vt:lpstr>Retail Sales Analysis</vt:lpstr>
      <vt:lpstr> step1: creating the data :  (Products &amp;  Actual Sales) by postgreSQL</vt:lpstr>
      <vt:lpstr>-The second step on creating data :  2.(Target Sales) by Excel</vt:lpstr>
      <vt:lpstr>Step 2: importing data and relationships on power bi</vt:lpstr>
      <vt:lpstr>PowerPoint Presentation</vt:lpstr>
      <vt:lpstr>Step 3: Creating measures</vt:lpstr>
      <vt:lpstr>Step 4: visualizations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Amer</dc:creator>
  <cp:lastModifiedBy>Mohamed Amer</cp:lastModifiedBy>
  <cp:revision>1</cp:revision>
  <dcterms:created xsi:type="dcterms:W3CDTF">2025-09-18T16:18:37Z</dcterms:created>
  <dcterms:modified xsi:type="dcterms:W3CDTF">2025-09-18T20:11:22Z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